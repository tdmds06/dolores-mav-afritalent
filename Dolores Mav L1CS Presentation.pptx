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D8C5"/>
    <a:srgbClr val="D9C5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8" d="100"/>
          <a:sy n="78" d="100"/>
        </p:scale>
        <p:origin x="0" y="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01799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182880" y="352044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82880" y="40690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Web — BTS SIO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890299" y="64736"/>
            <a:ext cx="4114800" cy="1384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AfriTalent</a:t>
            </a:r>
            <a:endParaRPr lang="en-US" sz="4800" dirty="0">
              <a:solidFill>
                <a:srgbClr val="C0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2456742" y="90189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E862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de Freelances Africains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 flipV="1">
            <a:off x="920064" y="1460896"/>
            <a:ext cx="7188156" cy="162164"/>
          </a:xfrm>
          <a:prstGeom prst="rect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862610" y="2011053"/>
            <a:ext cx="561101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Auteurs: </a:t>
            </a:r>
            <a:r>
              <a:rPr lang="en-US" sz="14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DOLORES SHALOM TOUKOULA DE MAVOUNGOU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89783" y="2367669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 </a:t>
            </a:r>
            <a:r>
              <a:rPr lang="en-US" sz="140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400" b="1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CS 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89783" y="2852614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: </a:t>
            </a:r>
            <a:r>
              <a:rPr lang="en-US" sz="14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Juillet 2026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89783" y="314065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:</a:t>
            </a:r>
            <a:endParaRPr lang="fr-FR" sz="1400" b="0" dirty="0">
              <a:solidFill>
                <a:schemeClr val="accent4">
                  <a:lumMod val="7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10515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36576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14400" y="107899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du </a:t>
            </a:r>
            <a:r>
              <a:rPr lang="en-US" sz="1300" dirty="0" err="1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65760" y="17373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75000"/>
            </a:schemeClr>
          </a:solidFill>
          <a:ln w="12700">
            <a:solidFill>
              <a:srgbClr val="1B6B7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65760" y="17373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14400" y="176479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de design &amp; palette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65760" y="24231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36576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914400" y="245059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du site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65760" y="31089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6576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914400" y="313639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techniques : JS &amp; CSS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65760" y="37947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6576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914400" y="3822192"/>
            <a:ext cx="36576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846320" y="105156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621A"/>
          </a:solidFill>
          <a:ln w="12700">
            <a:solidFill>
              <a:srgbClr val="E862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846320" y="105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394960" y="1078992"/>
            <a:ext cx="3474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&amp; Déploiement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846320" y="17373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84632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394960" y="1764792"/>
            <a:ext cx="3474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Difficultés rencontrées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846320" y="24231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8463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394960" y="2450592"/>
            <a:ext cx="3474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Ressources utilisées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4846320" y="3108960"/>
            <a:ext cx="457200" cy="457200"/>
          </a:xfrm>
          <a:prstGeom prst="roundRect">
            <a:avLst>
              <a:gd name="adj" fmla="val 14000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84632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5394960" y="3136392"/>
            <a:ext cx="3474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live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846320" y="379476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8621A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484632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394960" y="3822192"/>
            <a:ext cx="34747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Perspectives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Présentation du Projet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0040" y="1051560"/>
            <a:ext cx="5486400" cy="1417320"/>
          </a:xfrm>
          <a:prstGeom prst="roundRect">
            <a:avLst>
              <a:gd name="adj" fmla="val 6452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548640" y="1142999"/>
            <a:ext cx="5029200" cy="11118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</a:t>
            </a:r>
            <a:endParaRPr lang="en-US" sz="1400" b="1" dirty="0">
              <a:solidFill>
                <a:schemeClr val="accent4">
                  <a:lumMod val="75000"/>
                </a:schemeClr>
              </a:solidFill>
              <a:latin typeface="Cambria" pitchFamily="34" charset="0"/>
              <a:ea typeface="Cambria" pitchFamily="34" charset="-122"/>
            </a:endParaRPr>
          </a:p>
          <a:p>
            <a:r>
              <a:rPr lang="fr-FR" sz="1400" dirty="0" err="1"/>
              <a:t>AfriTalent</a:t>
            </a:r>
            <a:r>
              <a:rPr lang="fr-FR" sz="1400" dirty="0"/>
              <a:t> est une plateforme web fictive conçue pour mettre en relation les freelances africains avec les entreprises à la recherche de compétences numériques qualifiées</a:t>
            </a:r>
            <a:endParaRPr lang="en-US" sz="1400" b="1" dirty="0">
              <a:solidFill>
                <a:srgbClr val="1B6B72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9" name="Text 6"/>
          <p:cNvSpPr/>
          <p:nvPr/>
        </p:nvSpPr>
        <p:spPr>
          <a:xfrm>
            <a:off x="548640" y="1508760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74320" y="2581874"/>
            <a:ext cx="5486400" cy="1325880"/>
          </a:xfrm>
          <a:prstGeom prst="roundRect">
            <a:avLst>
              <a:gd name="adj" fmla="val 6897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548640" y="269748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Objectif</a:t>
            </a:r>
            <a:endParaRPr lang="en-US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548640" y="3063240"/>
            <a:ext cx="5029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200" dirty="0"/>
              <a:t>Mettre en pratique HTML5, CSS3, JavaScript ES6 et </a:t>
            </a:r>
            <a:r>
              <a:rPr lang="fr-FR" sz="1200" dirty="0" err="1"/>
              <a:t>Bootstrap</a:t>
            </a:r>
            <a:r>
              <a:rPr lang="fr-FR" sz="1200" dirty="0"/>
              <a:t> 5 afin de créer un site web responsive, puis le publier sur GitHub Pages en suivant une progression de 10 </a:t>
            </a:r>
            <a:r>
              <a:rPr lang="fr-FR" sz="1200" dirty="0" err="1"/>
              <a:t>commits</a:t>
            </a:r>
            <a:r>
              <a:rPr lang="fr-FR" sz="1200" dirty="0"/>
              <a:t> organisés.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1051560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FFC000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035040" y="1051560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Pages HTML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035040" y="1984248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E8621A"/>
          </a:solidFill>
          <a:ln w="12700">
            <a:solidFill>
              <a:srgbClr val="E862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035040" y="1984248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Freelances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035040" y="2916936"/>
            <a:ext cx="2743200" cy="777240"/>
          </a:xfrm>
          <a:prstGeom prst="roundRect">
            <a:avLst>
              <a:gd name="adj" fmla="val 11765"/>
            </a:avLst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035040" y="2916936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Commits GitHub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035040" y="3849624"/>
            <a:ext cx="2743200" cy="777240"/>
          </a:xfrm>
          <a:prstGeom prst="roundRect">
            <a:avLst>
              <a:gd name="adj" fmla="val 11765"/>
            </a:avLst>
          </a:prstGeom>
          <a:solidFill>
            <a:schemeClr val="accent4">
              <a:lumMod val="50000"/>
            </a:schemeClr>
          </a:solidFill>
          <a:ln w="12700">
            <a:solidFill>
              <a:srgbClr val="1C283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035040" y="3849624"/>
            <a:ext cx="2743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 Pays couverts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de Design — Palette &amp; Polices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1463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100584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Palette de couleurs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20040" y="1417320"/>
            <a:ext cx="1572768" cy="1371600"/>
          </a:xfrm>
          <a:prstGeom prst="roundRect">
            <a:avLst>
              <a:gd name="adj" fmla="val 6667"/>
            </a:avLst>
          </a:prstGeom>
          <a:solidFill>
            <a:schemeClr val="accent4">
              <a:lumMod val="75000"/>
            </a:schemeClr>
          </a:solidFill>
          <a:ln w="10160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9" name="Text 6"/>
          <p:cNvSpPr/>
          <p:nvPr/>
        </p:nvSpPr>
        <p:spPr>
          <a:xfrm>
            <a:off x="320040" y="2852928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600"/>
              <a:t>#bfa18f;</a:t>
            </a:r>
          </a:p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" y="3136392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20040" y="3410712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· Titres · Header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39112" y="1417320"/>
            <a:ext cx="1572768" cy="1371600"/>
          </a:xfrm>
          <a:prstGeom prst="roundRect">
            <a:avLst>
              <a:gd name="adj" fmla="val 6667"/>
            </a:avLst>
          </a:prstGeom>
          <a:solidFill>
            <a:srgbClr val="E1D8C5"/>
          </a:solidFill>
          <a:ln w="1016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2039112" y="2852928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#d9c5b2</a:t>
            </a:r>
          </a:p>
          <a:p>
            <a:pPr marL="0" indent="0" algn="ctr">
              <a:buNone/>
            </a:pPr>
            <a:endParaRPr lang="en-US" sz="600" dirty="0"/>
          </a:p>
        </p:txBody>
      </p:sp>
      <p:sp>
        <p:nvSpPr>
          <p:cNvPr id="14" name="Text 11"/>
          <p:cNvSpPr/>
          <p:nvPr/>
        </p:nvSpPr>
        <p:spPr>
          <a:xfrm>
            <a:off x="2039112" y="3136392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39112" y="3410712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Boutons · Accents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758184" y="1417320"/>
            <a:ext cx="1572768" cy="1371600"/>
          </a:xfrm>
          <a:prstGeom prst="roundRect">
            <a:avLst>
              <a:gd name="adj" fmla="val 6667"/>
            </a:avLst>
          </a:prstGeom>
          <a:solidFill>
            <a:schemeClr val="accent4">
              <a:lumMod val="20000"/>
              <a:lumOff val="80000"/>
            </a:schemeClr>
          </a:solidFill>
          <a:ln w="1016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3758184" y="2852928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#f5efe6</a:t>
            </a:r>
          </a:p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3758184" y="3136392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/ Gold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3758184" y="3410712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· Highlights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477256" y="1417320"/>
            <a:ext cx="1572768" cy="1371600"/>
          </a:xfrm>
          <a:prstGeom prst="roundRect">
            <a:avLst>
              <a:gd name="adj" fmla="val 6667"/>
            </a:avLst>
          </a:prstGeom>
          <a:solidFill>
            <a:schemeClr val="accent4">
              <a:lumMod val="50000"/>
            </a:schemeClr>
          </a:solidFill>
          <a:ln w="1016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394960" y="2871216"/>
            <a:ext cx="1572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fr-FR" sz="1400" dirty="0"/>
              <a:t>#3e3835</a:t>
            </a:r>
          </a:p>
          <a:p>
            <a:pPr marL="0" indent="0" algn="ctr">
              <a:buNone/>
            </a:pPr>
            <a:endParaRPr lang="en-US" sz="700" dirty="0"/>
          </a:p>
        </p:txBody>
      </p:sp>
      <p:sp>
        <p:nvSpPr>
          <p:cNvPr id="22" name="Text 19"/>
          <p:cNvSpPr/>
          <p:nvPr/>
        </p:nvSpPr>
        <p:spPr>
          <a:xfrm>
            <a:off x="5477256" y="3136392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Navy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77256" y="3410712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 sombre · Dark mode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7196328" y="3136392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Crème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196328" y="3410712"/>
            <a:ext cx="157276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 clair · Sections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" y="3858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Typographie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65760" y="4206240"/>
            <a:ext cx="5029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</a:t>
            </a: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Titres et en-têtes. Élégante, lisible, professionnelle.
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Calibri</a:t>
            </a:r>
            <a:r>
              <a:rPr lang="en-US" sz="12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Corps de texte. Neutre, moderne, très lisible.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486400" y="385876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Inspirations design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5486400" y="420624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Motifs africains (bordures)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Couleurs terre et teal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Cards modernes Bootstrap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Choix de Design — Pages du Site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5156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7200" y="116128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🏠  Accueil (index.html)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16184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Header, Hero, catégories, comment ca Marche, témoignages, CTA, Footer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937760" y="116128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👥  Freelances (freelances.html)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937760" y="161848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9 profils, barre de filtre dynamique, JS sans rechargement.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" y="297180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57200" y="308152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💶  Tarifs (tarifs.html)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57200" y="35387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plans tarifaires + FAQ accordéon Bootstrap.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754880" y="297180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937760" y="308152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ℹ️  À Propos (about.html)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937760" y="35387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dirty="0"/>
              <a:t>Présentation de notre histoire, de l’équipe, de nos valeurs et de nos chiffres clés.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74320" y="320040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457200" y="3310128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✉️  Contact (contact.html)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3767328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fr-FR" sz="1100" dirty="0"/>
              <a:t>Un formulaire validé en JavaScript, une carte Google </a:t>
            </a:r>
            <a:r>
              <a:rPr lang="fr-FR" sz="1100" dirty="0" err="1"/>
              <a:t>Maps</a:t>
            </a:r>
            <a:r>
              <a:rPr lang="fr-FR" sz="1100" dirty="0"/>
              <a:t> et les coordonnées de contact.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du Site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1600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100584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Arborescence des fichiers</a:t>
            </a:r>
            <a:endParaRPr lang="en-US" sz="13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365760" y="1371600"/>
            <a:ext cx="4114800" cy="3383280"/>
          </a:xfrm>
          <a:prstGeom prst="roundRect">
            <a:avLst>
              <a:gd name="adj" fmla="val 2703"/>
            </a:avLst>
          </a:prstGeom>
          <a:solidFill>
            <a:schemeClr val="accent4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548640" y="1481328"/>
            <a:ext cx="37490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📁  AfriTalent/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index.html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freelances.html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tarifs.html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about.html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contact.html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📁  css/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📄  style.css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📁  js/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📄  main.js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📁  im/   (images)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📁  docs/  (PowerPoint)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README.md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📄  .gitignore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846320" y="100584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 de navigation</a:t>
            </a:r>
            <a:endParaRPr lang="en-US" sz="13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4846320" y="137160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Accueil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040880" y="1371600"/>
            <a:ext cx="1920240" cy="822960"/>
          </a:xfrm>
          <a:prstGeom prst="roundRect">
            <a:avLst>
              <a:gd name="adj" fmla="val 8889"/>
            </a:avLst>
          </a:prstGeom>
          <a:solidFill>
            <a:srgbClr val="D9C5B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7040880" y="137160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freelances.html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4846320" y="242316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4846320" y="24231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tarifs.html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040880" y="242316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accent4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7040880" y="242316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about.html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Propos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846320" y="3474720"/>
            <a:ext cx="1920240" cy="822960"/>
          </a:xfrm>
          <a:prstGeom prst="roundRect">
            <a:avLst>
              <a:gd name="adj" fmla="val 8889"/>
            </a:avLst>
          </a:prstGeom>
          <a:solidFill>
            <a:schemeClr val="accent4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4846320" y="34747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contact.html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846320" y="44805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i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↕ Navbar commune Bootstrap</a:t>
            </a:r>
            <a:endParaRPr lang="en-US" sz="10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Techniques — JavaScript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: js/main.js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128016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E1D8C5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5720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Dark Mode + localStorage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11480" y="173736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toggle = document.getElementById('darkToggle');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toggle.addEventListener('click', ()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document.body.classList.toggle('dark');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localStorage.setItem('theme',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document.body.classList.contains('dark')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'dark' : 'light');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280160"/>
            <a:ext cx="4114800" cy="1691640"/>
          </a:xfrm>
          <a:prstGeom prst="roundRect">
            <a:avLst>
              <a:gd name="adj" fmla="val 5405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937760" y="1371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Compteurs animés (IntersectionObserver)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892040" y="1737360"/>
            <a:ext cx="3840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observer = new IntersectionObserver(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(entries)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entries.forEach(entry =&gt;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if (entry.isIntersecting)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animateCounter(entry.target);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observer.unobserve(entry.target);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}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{ threshold: 0.5 });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4320" y="3090672"/>
            <a:ext cx="4114800" cy="658368"/>
          </a:xfrm>
          <a:prstGeom prst="roundRect">
            <a:avLst>
              <a:gd name="adj" fmla="val 11111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411480" y="313639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Filtrage Freelances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11480" y="3410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#filter → querySelectorAll('.freelancer') → display block/none selon classe CSS.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754880" y="3090672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E1D8C5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892040" y="3136392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Validation Formulaire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892040" y="341071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email /^[^\s@]+@[^\s@]+\.[^\s@]+$/ · champs requis · message min 20 car.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3840480"/>
            <a:ext cx="4114800" cy="658368"/>
          </a:xfrm>
          <a:prstGeom prst="roundRect">
            <a:avLst>
              <a:gd name="adj" fmla="val 11111"/>
            </a:avLst>
          </a:prstGeom>
          <a:solidFill>
            <a:srgbClr val="E1D8C5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411480" y="38862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Navbar au scroll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11480" y="4160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window.addEventListener('scroll') → classList.add('scrolled') à 60px.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840480"/>
            <a:ext cx="4114800" cy="658368"/>
          </a:xfrm>
          <a:prstGeom prst="roundRect">
            <a:avLst>
              <a:gd name="adj" fmla="val 11111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4892040" y="38862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Fade-in au scroll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892040" y="41605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IntersectionObserver sur .fade-in → ajout classe .visible pour animation CSS.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Techniques — CSS Avancé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515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E1D8C5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7200" y="11430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CSS (Custom Properties)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11480" y="1536192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:root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--color-primary:   #1B6B72;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--color-accent:    #E8621A;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--color-gold:      #D4A017;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--font-title:      'Cambria', 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--font-body:       'Calibri', sans-serif;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--border-radius:   12px;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--shadow:          0 4px 16px rgba(0,0,0,.1);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051560"/>
            <a:ext cx="4114800" cy="2011680"/>
          </a:xfrm>
          <a:prstGeom prst="roundRect">
            <a:avLst>
              <a:gd name="adj" fmla="val 4545"/>
            </a:avLst>
          </a:prstGeom>
          <a:solidFill>
            <a:srgbClr val="E1D8C5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937760" y="114300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Mode CSS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892040" y="1536192"/>
            <a:ext cx="3840480" cy="1417320"/>
          </a:xfrm>
          <a:prstGeom prst="rect">
            <a:avLst/>
          </a:prstGeom>
          <a:solidFill>
            <a:srgbClr val="E1D8C5"/>
          </a:solidFill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body.dark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var(--color-dark);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color: #F3F4F6;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body.dark .navbar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#0F1A22 !important;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body.dark .card {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background: #1E2D3D;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border-color: #374151;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4320" y="32004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411480" y="32552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Animations Fade-in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11480" y="35295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.fade-in { opacity: 0; transform: translateY(20px); transition: .6s; }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.fade-in.visible { opacity: 1; transform: none; }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754880" y="320040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892040" y="325526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Media Queries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892040" y="352958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@media (max-width: 768px) { .hero-title { font-size: 1.8rem; } .bento-grid { grid-template-columns: 1fr; } }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274320" y="40233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411480" y="40782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 Effects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11480" y="435254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.card:hover { transform: translateY(-5px); box-shadow: 0 8px 25px rgba(0,0,0,.15); transition: .3s; }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754880" y="4023360"/>
            <a:ext cx="4114800" cy="731520"/>
          </a:xfrm>
          <a:prstGeom prst="roundRect">
            <a:avLst>
              <a:gd name="adj" fmla="val 1000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892040" y="4078224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Scrolled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892040" y="435254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.navbar.scrolled { background: rgba(27,107,114,.97) !important; box-shadow: 0 2px 12px rgba(0,0,0,.2); }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Points Techniques — Bootstrap 5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CDN utilisé : bootstrap@5.3.3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74320" y="132588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932688" y="141732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 Responsive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384048" y="198424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navbar-expand-lg · navbar-toggler · data-bs-toggle='collapse' → menu hamburger sur mobile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200400" y="132588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3310128" y="1417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858768" y="141732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Bootstrap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3310128" y="198424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· card-body · card-img-top · shadow-sm → profils freelances, tarifs, </a:t>
            </a:r>
            <a:r>
              <a:rPr lang="en-US" sz="950" dirty="0" err="1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126480" y="132588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784848" y="141732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Accordéon</a:t>
            </a: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FAQ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9" name="Text 16"/>
          <p:cNvSpPr/>
          <p:nvPr/>
        </p:nvSpPr>
        <p:spPr>
          <a:xfrm>
            <a:off x="6236208" y="198424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accordion · accordion-item · collapse · data-bs-parent → FAQ tarifs.html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74320" y="3090672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932688" y="315468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Grille Responsive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3" name="Text 20"/>
          <p:cNvSpPr/>
          <p:nvPr/>
        </p:nvSpPr>
        <p:spPr>
          <a:xfrm>
            <a:off x="384048" y="372160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col-12 / col-md-6 / col-lg-4 → adaptation automatique mobile/tablette/desktop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200400" y="306324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3858768" y="315468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&amp; Boutons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7" name="Text 24"/>
          <p:cNvSpPr/>
          <p:nvPr/>
        </p:nvSpPr>
        <p:spPr>
          <a:xfrm>
            <a:off x="3310128" y="372160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bg-warning · btn btn-primary · btn-outline-light → plan Pro, CTA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126480" y="3063240"/>
            <a:ext cx="274320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6784848" y="3154680"/>
            <a:ext cx="1965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1" name="Text 28"/>
          <p:cNvSpPr/>
          <p:nvPr/>
        </p:nvSpPr>
        <p:spPr>
          <a:xfrm>
            <a:off x="6236208" y="3721608"/>
            <a:ext cx="25146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carousel · carousel-item · data-bs-ride='carousel' → témoignages accueil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&amp; Déploiement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274320" y="10058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Historique des 10 commits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74320" y="1371600"/>
            <a:ext cx="5029200" cy="3383280"/>
          </a:xfrm>
          <a:prstGeom prst="roundRect">
            <a:avLst>
              <a:gd name="adj" fmla="val 2703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57200" y="1527048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731520" y="150876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Init :  creation du depots arborescence des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fichers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structure HTML de base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1842516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731520" y="182422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HTML : structure complete des 5 pages avec section et contenu de texte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157984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731520" y="213969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CSS : variables, typographie, layout general et styles de base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2473452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731520" y="245516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CSS : Bento Grid, Hero, et categories effects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effets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hover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57200" y="278892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731520" y="277063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CSS : responsive design, media queries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3104388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731520" y="3086100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JS : Dark mode + navbar dynamique au scroll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3419856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731520" y="340156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JS : compteurs animés au scroll et animations + fade-in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3735324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731520" y="3717036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JS : filtrage dynamique des freelances + validation de formulaire de contact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57200" y="4050792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731520" y="4032504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Finalisation : corrections responsive, optimization du code et </a:t>
            </a:r>
            <a:r>
              <a:rPr lang="en-US" sz="10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commentaires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57200" y="4366260"/>
            <a:ext cx="164592" cy="164592"/>
          </a:xfrm>
          <a:prstGeom prst="ellipse">
            <a:avLst/>
          </a:prstGeom>
          <a:solidFill>
            <a:srgbClr val="E8621A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731520" y="4347972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Déploiement : GitHub Pages active, README finalise et presentation </a:t>
            </a:r>
            <a:r>
              <a:rPr lang="en-US" sz="1000" b="1" dirty="0" err="1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5394960" y="1001268"/>
            <a:ext cx="3291840" cy="2011680"/>
          </a:xfrm>
          <a:prstGeom prst="roundRect">
            <a:avLst>
              <a:gd name="adj" fmla="val 4545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0" y="1097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Pages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5760720" y="150876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Pages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Deploy from a branch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: main  /  Folder : / (root)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Lien :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577840" y="3154680"/>
            <a:ext cx="3291840" cy="1600200"/>
          </a:xfrm>
          <a:prstGeom prst="roundRect">
            <a:avLst>
              <a:gd name="adj" fmla="val 5714"/>
            </a:avLst>
          </a:prstGeom>
          <a:solidFill>
            <a:schemeClr val="accent4">
              <a:lumMod val="40000"/>
              <a:lumOff val="6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5760720" y="324612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 Git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5760720" y="3639312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add 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commit -m "message"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7DD3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Difficultés Rencontrées &amp; Solutions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5156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720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r>
              <a:rPr lang="en-US" sz="1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Design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1554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 : Les cartes freelances se chevauchaient sur tablette (768px).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" y="208483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Ajout systématique de col-md-6 col-lg-4 sur chaque carte et test sur 3 breakpoints.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754880" y="105156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493776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r>
              <a:rPr lang="en-US" sz="1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Mode persistant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4937760" y="155448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 : Le thème Dark ne persistait pas lors du changement de page.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937760" y="208483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Lecture de localStorage au chargement : if (localStorage.getItem('theme') === 'dark') document.body.classList.add('dark').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74320" y="292608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457200" y="3017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6B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</a:t>
            </a:r>
            <a:r>
              <a:rPr lang="en-US" sz="1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Compteurs IntersectionObserver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" name="Text 14"/>
          <p:cNvSpPr/>
          <p:nvPr/>
        </p:nvSpPr>
        <p:spPr>
          <a:xfrm>
            <a:off x="457200" y="3429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 : Les compteurs se relançaient à chaque scroll dès que l'élément repassait dans le viewport.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57200" y="395935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Ajout de observer.unobserve(entry.target) juste après l'appel à animateCounter().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54880" y="2926080"/>
            <a:ext cx="4114800" cy="1691640"/>
          </a:xfrm>
          <a:prstGeom prst="roundRect">
            <a:avLst>
              <a:gd name="adj" fmla="val 5405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4937760" y="3017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Formulaire JS</a:t>
            </a:r>
            <a:endParaRPr lang="en-US" sz="1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Text 18"/>
          <p:cNvSpPr/>
          <p:nvPr/>
        </p:nvSpPr>
        <p:spPr>
          <a:xfrm>
            <a:off x="4937760" y="342900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Problème : La regex email acceptait des formats invalides (ex : test@test).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4937760" y="3959352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: Remplacement par /^[^\s@]+@[^\s@]+\.[^\s@]+$/ qui exige un domaine complet.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Ressources &amp; Documentation Utilisées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515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11480" y="1143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 CSS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11480" y="15270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5.3.3 — getbootstrap.com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Icons 1.11.3 — icons.getbootstrap.com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0515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1143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JavaScript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Text 9"/>
          <p:cNvSpPr/>
          <p:nvPr/>
        </p:nvSpPr>
        <p:spPr>
          <a:xfrm>
            <a:off x="3337560" y="15270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MDN Web Docs — developer.mozilla.org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IntersectionObserver API — MDN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API — MDN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26480" y="10515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263640" y="11430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&amp; Outils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 12"/>
          <p:cNvSpPr/>
          <p:nvPr/>
        </p:nvSpPr>
        <p:spPr>
          <a:xfrm>
            <a:off x="6263640" y="15270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Fonts — fonts.google.com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Coolors.co — générateur de palette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— éditeur de code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432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" y="29718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&amp; Déploiement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8" name="Text 15"/>
          <p:cNvSpPr/>
          <p:nvPr/>
        </p:nvSpPr>
        <p:spPr>
          <a:xfrm>
            <a:off x="411480" y="33558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github.com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Pages — pages.github.com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— git-scm.com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20040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337560" y="29718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&amp; Test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Text 18"/>
          <p:cNvSpPr/>
          <p:nvPr/>
        </p:nvSpPr>
        <p:spPr>
          <a:xfrm>
            <a:off x="3337560" y="33558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 Validator — validator.w3.org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DevTools (Responsive)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Embed API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26480" y="2880360"/>
            <a:ext cx="2743200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263640" y="29718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Médias</a:t>
            </a:r>
            <a:endParaRPr lang="en-US" sz="12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4" name="Text 21"/>
          <p:cNvSpPr/>
          <p:nvPr/>
        </p:nvSpPr>
        <p:spPr>
          <a:xfrm>
            <a:off x="6263640" y="3355848"/>
            <a:ext cx="24688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: générées ou libres de droits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: création custom AfriTalent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textuel : fictif BTS SIO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Démonstration Live du Site</a:t>
            </a:r>
            <a:endParaRPr lang="en-US" sz="28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365760" y="10515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🌐  Lien GitHub Pages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65760" y="1467196"/>
            <a:ext cx="841248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9050">
            <a:noFill/>
            <a:prstDash val="solid"/>
          </a:ln>
        </p:spPr>
        <p:txBody>
          <a:bodyPr/>
          <a:lstStyle/>
          <a:p>
            <a:r>
              <a:rPr lang="fr-FR"/>
              <a:t>https://triomphantpanze-dot.github.io/Panze-triomphant-AfriTalent/</a:t>
            </a:r>
          </a:p>
        </p:txBody>
      </p:sp>
      <p:sp>
        <p:nvSpPr>
          <p:cNvPr id="9" name="Text 6"/>
          <p:cNvSpPr/>
          <p:nvPr/>
        </p:nvSpPr>
        <p:spPr>
          <a:xfrm>
            <a:off x="548640" y="1508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65760" y="22402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Checklist de démonstration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65760" y="2651760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26517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Accueil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2194560" y="26517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section, carousel témoignages, stats animées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5760" y="2967228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9672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Freelances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194560" y="296722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 JavaScript : Web / Design / Marketing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5760" y="3282696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3282696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Tarifs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194560" y="3282696"/>
            <a:ext cx="6400800" cy="274320"/>
          </a:xfrm>
          <a:prstGeom prst="rect">
            <a:avLst/>
          </a:prstGeom>
          <a:solidFill>
            <a:schemeClr val="accent4">
              <a:lumMod val="75000"/>
            </a:scheme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Accordéon FAQ Bootstrap, 3 plans tarifaires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65760" y="3598164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02920" y="359816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À Propos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194560" y="359816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Compteurs animés IntersectionObserver, </a:t>
            </a:r>
            <a:r>
              <a:rPr lang="en-US" sz="1000" dirty="0" err="1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365760" y="3913632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02920" y="391363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Contact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2194560" y="391363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JS du formulaire, carte Google Maps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5760" y="4229100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42291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Dark Mode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194560" y="422910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persistant via localStorage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365760" y="4544568"/>
            <a:ext cx="8412480" cy="274320"/>
          </a:xfrm>
          <a:prstGeom prst="roundRect">
            <a:avLst>
              <a:gd name="adj" fmla="val 16667"/>
            </a:avLst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02920" y="45445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6B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Responsive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194560" y="45445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0AE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mobile 375px, tablette 768px, desktop 1200px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73152"/>
            <a:ext cx="7772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28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Shape 2"/>
          <p:cNvSpPr/>
          <p:nvPr/>
        </p:nvSpPr>
        <p:spPr>
          <a:xfrm>
            <a:off x="0" y="4937760"/>
            <a:ext cx="9144000" cy="2011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274320" y="4937760"/>
            <a:ext cx="8595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274320" y="100584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4937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Bilan du </a:t>
            </a:r>
            <a:r>
              <a:rPr lang="en-US" sz="1400" b="1" dirty="0" err="1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</a:t>
            </a:r>
            <a:endParaRPr lang="en-US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57200" y="1481328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AfriTalent nous a permis de maîtriser l'ensemble de la chaîne de développement web : conception, développement, tests et déploiement, dans un cadre professionnel avec 10 commits Git structurés.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74320" y="2606040"/>
            <a:ext cx="5303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4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Compétences acquises</a:t>
            </a:r>
            <a:endParaRPr lang="en-US" sz="14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384048" y="301752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299008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sémantique — structure propre et validée W3C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84048" y="3364992"/>
            <a:ext cx="164592" cy="164592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33375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CSS3 avancé — variables, grid, animations, dark mode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84048" y="3712464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368503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 ES6 — DOM, events, IntersectionObserver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84048" y="4059936"/>
            <a:ext cx="164592" cy="164592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403250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 — grille, composants, responsive design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84048" y="4407408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4379976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28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— versioning 10 commits + déploiement Pages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760720" y="1005840"/>
            <a:ext cx="3108960" cy="3794760"/>
          </a:xfrm>
          <a:prstGeom prst="roundRect">
            <a:avLst>
              <a:gd name="adj" fmla="val 3529"/>
            </a:avLst>
          </a:prstGeom>
          <a:solidFill>
            <a:schemeClr val="accent4">
              <a:lumMod val="60000"/>
              <a:lumOff val="4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897880" y="1143000"/>
            <a:ext cx="2834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Perspectives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d'amélioration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83680" y="1901952"/>
            <a:ext cx="1463040" cy="45720"/>
          </a:xfrm>
          <a:prstGeom prst="rect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852160" y="2057400"/>
            <a:ext cx="283464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Authentification utilisateur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Messagerie freelance/client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Système de notation réel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 de données (SQL/NoSQL)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Multilangue (FR / EN)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 mobile (React Native)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0709" y="531827"/>
            <a:ext cx="9144000" cy="51435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4" name="Text 1"/>
          <p:cNvSpPr/>
          <p:nvPr/>
        </p:nvSpPr>
        <p:spPr>
          <a:xfrm>
            <a:off x="2008415" y="1429413"/>
            <a:ext cx="4754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!</a:t>
            </a:r>
            <a:endParaRPr lang="en-US" sz="5200" dirty="0"/>
          </a:p>
        </p:txBody>
      </p:sp>
      <p:sp>
        <p:nvSpPr>
          <p:cNvPr id="7" name="Shape 4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1B6B7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0" y="4892040"/>
            <a:ext cx="9144000" cy="246888"/>
          </a:xfrm>
          <a:prstGeom prst="rect">
            <a:avLst/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contact@afritalent.com  |  +221 711198672|  Dakar, Sénégal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1697</Words>
  <Application>Microsoft Office PowerPoint</Application>
  <PresentationFormat>Affichage à l'écran (16:9)</PresentationFormat>
  <Paragraphs>284</Paragraphs>
  <Slides>15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</vt:lpstr>
      <vt:lpstr>Consolas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AfriTalent - Présentation du Projet</dc:title>
  <dc:subject>PptxGenJS Presentation</dc:subject>
  <dc:creator>PptxGenJS</dc:creator>
  <cp:lastModifiedBy>Dolores</cp:lastModifiedBy>
  <cp:revision>13</cp:revision>
  <dcterms:created xsi:type="dcterms:W3CDTF">2026-06-14T15:12:56Z</dcterms:created>
  <dcterms:modified xsi:type="dcterms:W3CDTF">2026-07-02T19:57:49Z</dcterms:modified>
</cp:coreProperties>
</file>